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5" d="100"/>
          <a:sy n="65" d="100"/>
        </p:scale>
        <p:origin x="912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2" name="Google Shape;152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2" name="Google Shape;21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5" name="Google Shape;245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8" name="Google Shape;30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4" name="Google Shape;34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11" Type="http://schemas.openxmlformats.org/officeDocument/2006/relationships/image" Target="../media/image19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13" Type="http://schemas.openxmlformats.org/officeDocument/2006/relationships/image" Target="../media/image30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Relationship Id="rId1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31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8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44.png"/><Relationship Id="rId13" Type="http://schemas.openxmlformats.org/officeDocument/2006/relationships/image" Target="../media/image49.png"/><Relationship Id="rId18" Type="http://schemas.openxmlformats.org/officeDocument/2006/relationships/image" Target="../media/image54.png"/><Relationship Id="rId26" Type="http://schemas.openxmlformats.org/officeDocument/2006/relationships/image" Target="../media/image62.png"/><Relationship Id="rId3" Type="http://schemas.openxmlformats.org/officeDocument/2006/relationships/image" Target="../media/image39.png"/><Relationship Id="rId21" Type="http://schemas.openxmlformats.org/officeDocument/2006/relationships/image" Target="../media/image57.png"/><Relationship Id="rId7" Type="http://schemas.openxmlformats.org/officeDocument/2006/relationships/image" Target="../media/image43.png"/><Relationship Id="rId12" Type="http://schemas.openxmlformats.org/officeDocument/2006/relationships/image" Target="../media/image48.png"/><Relationship Id="rId17" Type="http://schemas.openxmlformats.org/officeDocument/2006/relationships/image" Target="../media/image53.png"/><Relationship Id="rId25" Type="http://schemas.openxmlformats.org/officeDocument/2006/relationships/image" Target="../media/image61.png"/><Relationship Id="rId2" Type="http://schemas.openxmlformats.org/officeDocument/2006/relationships/notesSlide" Target="../notesSlides/notesSlide7.xml"/><Relationship Id="rId16" Type="http://schemas.openxmlformats.org/officeDocument/2006/relationships/image" Target="../media/image52.png"/><Relationship Id="rId20" Type="http://schemas.openxmlformats.org/officeDocument/2006/relationships/image" Target="../media/image56.png"/><Relationship Id="rId29" Type="http://schemas.openxmlformats.org/officeDocument/2006/relationships/image" Target="../media/image6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11" Type="http://schemas.openxmlformats.org/officeDocument/2006/relationships/image" Target="../media/image47.png"/><Relationship Id="rId24" Type="http://schemas.openxmlformats.org/officeDocument/2006/relationships/image" Target="../media/image60.png"/><Relationship Id="rId5" Type="http://schemas.openxmlformats.org/officeDocument/2006/relationships/image" Target="../media/image41.png"/><Relationship Id="rId15" Type="http://schemas.openxmlformats.org/officeDocument/2006/relationships/image" Target="../media/image51.png"/><Relationship Id="rId23" Type="http://schemas.openxmlformats.org/officeDocument/2006/relationships/image" Target="../media/image59.png"/><Relationship Id="rId28" Type="http://schemas.openxmlformats.org/officeDocument/2006/relationships/image" Target="../media/image64.png"/><Relationship Id="rId10" Type="http://schemas.openxmlformats.org/officeDocument/2006/relationships/image" Target="../media/image46.png"/><Relationship Id="rId19" Type="http://schemas.openxmlformats.org/officeDocument/2006/relationships/image" Target="../media/image55.png"/><Relationship Id="rId4" Type="http://schemas.openxmlformats.org/officeDocument/2006/relationships/image" Target="../media/image40.png"/><Relationship Id="rId9" Type="http://schemas.openxmlformats.org/officeDocument/2006/relationships/image" Target="../media/image45.png"/><Relationship Id="rId14" Type="http://schemas.openxmlformats.org/officeDocument/2006/relationships/image" Target="../media/image50.png"/><Relationship Id="rId22" Type="http://schemas.openxmlformats.org/officeDocument/2006/relationships/image" Target="../media/image58.png"/><Relationship Id="rId27" Type="http://schemas.openxmlformats.org/officeDocument/2006/relationships/image" Target="../media/image63.png"/><Relationship Id="rId30" Type="http://schemas.openxmlformats.org/officeDocument/2006/relationships/image" Target="../media/image6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2.png"/><Relationship Id="rId3" Type="http://schemas.openxmlformats.org/officeDocument/2006/relationships/image" Target="../media/image67.png"/><Relationship Id="rId7" Type="http://schemas.openxmlformats.org/officeDocument/2006/relationships/image" Target="../media/image7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0.png"/><Relationship Id="rId11" Type="http://schemas.openxmlformats.org/officeDocument/2006/relationships/image" Target="../media/image10.png"/><Relationship Id="rId5" Type="http://schemas.openxmlformats.org/officeDocument/2006/relationships/image" Target="../media/image69.png"/><Relationship Id="rId10" Type="http://schemas.openxmlformats.org/officeDocument/2006/relationships/image" Target="../media/image74.png"/><Relationship Id="rId4" Type="http://schemas.openxmlformats.org/officeDocument/2006/relationships/image" Target="../media/image68.png"/><Relationship Id="rId9" Type="http://schemas.openxmlformats.org/officeDocument/2006/relationships/image" Target="../media/image7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0.png"/><Relationship Id="rId13" Type="http://schemas.openxmlformats.org/officeDocument/2006/relationships/image" Target="../media/image85.png"/><Relationship Id="rId3" Type="http://schemas.openxmlformats.org/officeDocument/2006/relationships/image" Target="../media/image75.png"/><Relationship Id="rId7" Type="http://schemas.openxmlformats.org/officeDocument/2006/relationships/image" Target="../media/image79.png"/><Relationship Id="rId12" Type="http://schemas.openxmlformats.org/officeDocument/2006/relationships/image" Target="../media/image8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8.png"/><Relationship Id="rId11" Type="http://schemas.openxmlformats.org/officeDocument/2006/relationships/image" Target="../media/image83.png"/><Relationship Id="rId5" Type="http://schemas.openxmlformats.org/officeDocument/2006/relationships/image" Target="../media/image77.png"/><Relationship Id="rId15" Type="http://schemas.openxmlformats.org/officeDocument/2006/relationships/image" Target="../media/image87.png"/><Relationship Id="rId10" Type="http://schemas.openxmlformats.org/officeDocument/2006/relationships/image" Target="../media/image82.png"/><Relationship Id="rId4" Type="http://schemas.openxmlformats.org/officeDocument/2006/relationships/image" Target="../media/image76.png"/><Relationship Id="rId9" Type="http://schemas.openxmlformats.org/officeDocument/2006/relationships/image" Target="../media/image81.png"/><Relationship Id="rId14" Type="http://schemas.openxmlformats.org/officeDocument/2006/relationships/image" Target="../media/image8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/>
          <p:nvPr/>
        </p:nvSpPr>
        <p:spPr>
          <a:xfrm>
            <a:off x="762000" y="1785639"/>
            <a:ext cx="4950618" cy="1774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498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Student Result Analyzer Dashboard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762000" y="3750468"/>
            <a:ext cx="4714875" cy="6932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3994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Interactive Academic Performance Analysis using Microsoft Excel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762000" y="4919960"/>
            <a:ext cx="1690914" cy="63514"/>
          </a:xfrm>
          <a:prstGeom prst="rect">
            <a:avLst/>
          </a:prstGeom>
          <a:noFill/>
          <a:ln w="2857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762000" y="5234285"/>
            <a:ext cx="4714875" cy="4062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Ramtanay Chakraborty &amp; Saket Aman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762000" y="5617071"/>
            <a:ext cx="47148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Author</a:t>
            </a:r>
            <a:endParaRPr/>
          </a:p>
        </p:txBody>
      </p:sp>
      <p:pic>
        <p:nvPicPr>
          <p:cNvPr id="89" name="Google Shape;89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571500"/>
            <a:ext cx="5095875" cy="571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9084" y="966489"/>
            <a:ext cx="400050" cy="533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1" name="Google Shape;91;p13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439634" y="966489"/>
            <a:ext cx="600075" cy="53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5373033"/>
            <a:ext cx="4800600" cy="971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629400" y="5417277"/>
            <a:ext cx="4800600" cy="9715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Problem Statement</a:t>
            </a:r>
            <a:endParaRPr/>
          </a:p>
        </p:txBody>
      </p:sp>
      <p:sp>
        <p:nvSpPr>
          <p:cNvPr id="99" name="Google Shape;99;p14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0" name="Google Shape;100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962650" y="5706408"/>
            <a:ext cx="266700" cy="304800"/>
          </a:xfrm>
          <a:prstGeom prst="rect">
            <a:avLst/>
          </a:prstGeom>
          <a:noFill/>
          <a:ln>
            <a:noFill/>
          </a:ln>
        </p:spPr>
      </p:pic>
      <p:sp>
        <p:nvSpPr>
          <p:cNvPr id="101" name="Google Shape;101;p14"/>
          <p:cNvSpPr txBox="1"/>
          <p:nvPr/>
        </p:nvSpPr>
        <p:spPr>
          <a:xfrm>
            <a:off x="762000" y="1477929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The Challenge of Educational Data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762000" y="1827372"/>
            <a:ext cx="5095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Schools continually collect large volumes of student academic data. However, relying on manual analysis makes it exceptionally difficult to:</a:t>
            </a:r>
            <a:endParaRPr dirty="0"/>
          </a:p>
        </p:txBody>
      </p:sp>
      <p:pic>
        <p:nvPicPr>
          <p:cNvPr id="103" name="Google Shape;10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334125" y="1745358"/>
            <a:ext cx="5095875" cy="333375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4"/>
          <p:cNvSpPr txBox="1"/>
          <p:nvPr/>
        </p:nvSpPr>
        <p:spPr>
          <a:xfrm>
            <a:off x="1771650" y="5620683"/>
            <a:ext cx="220980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EF4444"/>
                </a:solidFill>
                <a:latin typeface="Arial"/>
                <a:ea typeface="Arial"/>
                <a:cs typeface="Arial"/>
                <a:sym typeface="Arial"/>
              </a:rPr>
              <a:t>Manual Analysis Problems</a:t>
            </a:r>
            <a:endParaRPr/>
          </a:p>
        </p:txBody>
      </p:sp>
      <p:sp>
        <p:nvSpPr>
          <p:cNvPr id="105" name="Google Shape;105;p14"/>
          <p:cNvSpPr txBox="1"/>
          <p:nvPr/>
        </p:nvSpPr>
        <p:spPr>
          <a:xfrm>
            <a:off x="7639050" y="5620683"/>
            <a:ext cx="2219325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10B981"/>
                </a:solidFill>
                <a:latin typeface="Arial"/>
                <a:ea typeface="Arial"/>
                <a:cs typeface="Arial"/>
                <a:sym typeface="Arial"/>
              </a:rPr>
              <a:t>Excel Dashboard Solutions</a:t>
            </a:r>
            <a:endParaRPr/>
          </a:p>
        </p:txBody>
      </p:sp>
      <p:sp>
        <p:nvSpPr>
          <p:cNvPr id="106" name="Google Shape;106;p14"/>
          <p:cNvSpPr txBox="1"/>
          <p:nvPr/>
        </p:nvSpPr>
        <p:spPr>
          <a:xfrm>
            <a:off x="1028700" y="2840742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Identify top-performing students efficiently.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1028700" y="3229332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Compare individual student performance holistically.</a:t>
            </a:r>
            <a:endParaRPr dirty="0"/>
          </a:p>
        </p:txBody>
      </p:sp>
      <p:sp>
        <p:nvSpPr>
          <p:cNvPr id="108" name="Google Shape;108;p14"/>
          <p:cNvSpPr txBox="1"/>
          <p:nvPr/>
        </p:nvSpPr>
        <p:spPr>
          <a:xfrm>
            <a:off x="1028700" y="3617923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Understand complex grade distributions.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028700" y="4006513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Track historical pass and fail rates accurately.</a:t>
            </a:r>
            <a:endParaRPr/>
          </a:p>
        </p:txBody>
      </p:sp>
      <p:sp>
        <p:nvSpPr>
          <p:cNvPr id="110" name="Google Shape;110;p14"/>
          <p:cNvSpPr txBox="1"/>
          <p:nvPr/>
        </p:nvSpPr>
        <p:spPr>
          <a:xfrm>
            <a:off x="1028700" y="4395103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Compare outcomes across different academic streams.</a:t>
            </a:r>
            <a:endParaRPr dirty="0"/>
          </a:p>
        </p:txBody>
      </p:sp>
      <p:sp>
        <p:nvSpPr>
          <p:cNvPr id="111" name="Google Shape;111;p14"/>
          <p:cNvSpPr txBox="1"/>
          <p:nvPr/>
        </p:nvSpPr>
        <p:spPr>
          <a:xfrm>
            <a:off x="1028700" y="4783693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Generate rapid, on-demand administrative reports.</a:t>
            </a:r>
            <a:endParaRPr/>
          </a:p>
        </p:txBody>
      </p:sp>
      <p:pic>
        <p:nvPicPr>
          <p:cNvPr id="112" name="Google Shape;112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152525" y="5620683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019925" y="5620683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291694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5" name="Google Shape;11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330553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6" name="Google Shape;116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369412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408271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447130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09625" y="4859893"/>
            <a:ext cx="76200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127;p15" descr="image.png">
            <a:extLst>
              <a:ext uri="{FF2B5EF4-FFF2-40B4-BE49-F238E27FC236}">
                <a16:creationId xmlns:a16="http://schemas.microsoft.com/office/drawing/2014/main" id="{2182B57E-A997-4B29-6BB1-EEA31666DC2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7252" y="1454547"/>
            <a:ext cx="3365450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Google Shape;128;p15" descr="image.png">
            <a:extLst>
              <a:ext uri="{FF2B5EF4-FFF2-40B4-BE49-F238E27FC236}">
                <a16:creationId xmlns:a16="http://schemas.microsoft.com/office/drawing/2014/main" id="{5772698B-DE6A-9BCB-BC47-A5A2240DE3D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98452" y="1528029"/>
            <a:ext cx="3365450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129;p15" descr="image.png">
            <a:extLst>
              <a:ext uri="{FF2B5EF4-FFF2-40B4-BE49-F238E27FC236}">
                <a16:creationId xmlns:a16="http://schemas.microsoft.com/office/drawing/2014/main" id="{296A4F49-791A-CF05-C6A9-600658F976A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49651" y="1528029"/>
            <a:ext cx="3365599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7" name="Google Shape;127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47252" y="4116087"/>
            <a:ext cx="3365450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398452" y="4116087"/>
            <a:ext cx="3365450" cy="23594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49651" y="4116087"/>
            <a:ext cx="3365599" cy="2359458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5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Project Objectives</a:t>
            </a:r>
            <a:endParaRPr/>
          </a:p>
        </p:txBody>
      </p:sp>
      <p:sp>
        <p:nvSpPr>
          <p:cNvPr id="131" name="Google Shape;131;p15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15"/>
          <p:cNvSpPr txBox="1"/>
          <p:nvPr/>
        </p:nvSpPr>
        <p:spPr>
          <a:xfrm>
            <a:off x="1057275" y="2220576"/>
            <a:ext cx="29136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Analyze Performance</a:t>
            </a:r>
            <a:endParaRPr/>
          </a:p>
        </p:txBody>
      </p:sp>
      <p:sp>
        <p:nvSpPr>
          <p:cNvPr id="133" name="Google Shape;133;p15"/>
          <p:cNvSpPr txBox="1"/>
          <p:nvPr/>
        </p:nvSpPr>
        <p:spPr>
          <a:xfrm>
            <a:off x="1057275" y="2639676"/>
            <a:ext cx="27749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Deeply analyze student academic performance using structured data modeling.</a:t>
            </a:r>
            <a:endParaRPr/>
          </a:p>
        </p:txBody>
      </p:sp>
      <p:sp>
        <p:nvSpPr>
          <p:cNvPr id="134" name="Google Shape;134;p15"/>
          <p:cNvSpPr txBox="1"/>
          <p:nvPr/>
        </p:nvSpPr>
        <p:spPr>
          <a:xfrm>
            <a:off x="4708475" y="2220576"/>
            <a:ext cx="29136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Interactive Dashboard</a:t>
            </a:r>
            <a:endParaRPr/>
          </a:p>
        </p:txBody>
      </p:sp>
      <p:sp>
        <p:nvSpPr>
          <p:cNvPr id="135" name="Google Shape;135;p15"/>
          <p:cNvSpPr txBox="1"/>
          <p:nvPr/>
        </p:nvSpPr>
        <p:spPr>
          <a:xfrm>
            <a:off x="4708475" y="2639676"/>
            <a:ext cx="27749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Build a fully interactive dashboard for intuitive, click-driven data exploration.</a:t>
            </a:r>
            <a:endParaRPr/>
          </a:p>
        </p:txBody>
      </p:sp>
      <p:sp>
        <p:nvSpPr>
          <p:cNvPr id="136" name="Google Shape;136;p15"/>
          <p:cNvSpPr txBox="1"/>
          <p:nvPr/>
        </p:nvSpPr>
        <p:spPr>
          <a:xfrm>
            <a:off x="8359675" y="2220576"/>
            <a:ext cx="291380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Dynamic Reports</a:t>
            </a:r>
            <a:endParaRPr/>
          </a:p>
        </p:txBody>
      </p:sp>
      <p:sp>
        <p:nvSpPr>
          <p:cNvPr id="137" name="Google Shape;137;p15"/>
          <p:cNvSpPr txBox="1"/>
          <p:nvPr/>
        </p:nvSpPr>
        <p:spPr>
          <a:xfrm>
            <a:off x="8359675" y="2639676"/>
            <a:ext cx="2775049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Create dynamic report generation capabilities to automate standard academic reviews.</a:t>
            </a:r>
            <a:endParaRPr/>
          </a:p>
        </p:txBody>
      </p:sp>
      <p:sp>
        <p:nvSpPr>
          <p:cNvPr id="138" name="Google Shape;138;p15"/>
          <p:cNvSpPr txBox="1"/>
          <p:nvPr/>
        </p:nvSpPr>
        <p:spPr>
          <a:xfrm>
            <a:off x="1057275" y="4913409"/>
            <a:ext cx="29136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Compare Grades</a:t>
            </a:r>
            <a:endParaRPr/>
          </a:p>
        </p:txBody>
      </p:sp>
      <p:sp>
        <p:nvSpPr>
          <p:cNvPr id="139" name="Google Shape;139;p15"/>
          <p:cNvSpPr txBox="1"/>
          <p:nvPr/>
        </p:nvSpPr>
        <p:spPr>
          <a:xfrm>
            <a:off x="1057275" y="5332509"/>
            <a:ext cx="27749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Facilitate macro and micro comparisons of grades across subjects and demographics.</a:t>
            </a:r>
            <a:endParaRPr/>
          </a:p>
        </p:txBody>
      </p:sp>
      <p:sp>
        <p:nvSpPr>
          <p:cNvPr id="140" name="Google Shape;140;p15"/>
          <p:cNvSpPr txBox="1"/>
          <p:nvPr/>
        </p:nvSpPr>
        <p:spPr>
          <a:xfrm>
            <a:off x="4737971" y="4883913"/>
            <a:ext cx="291364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Identify Performers</a:t>
            </a:r>
            <a:endParaRPr dirty="0"/>
          </a:p>
        </p:txBody>
      </p:sp>
      <p:sp>
        <p:nvSpPr>
          <p:cNvPr id="141" name="Google Shape;141;p15"/>
          <p:cNvSpPr txBox="1"/>
          <p:nvPr/>
        </p:nvSpPr>
        <p:spPr>
          <a:xfrm>
            <a:off x="4737971" y="5303013"/>
            <a:ext cx="2774900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Instantly identify top academic performers overall and within specific streams.</a:t>
            </a:r>
            <a:endParaRPr dirty="0"/>
          </a:p>
        </p:txBody>
      </p:sp>
      <p:sp>
        <p:nvSpPr>
          <p:cNvPr id="142" name="Google Shape;142;p15"/>
          <p:cNvSpPr txBox="1"/>
          <p:nvPr/>
        </p:nvSpPr>
        <p:spPr>
          <a:xfrm>
            <a:off x="8359675" y="4913409"/>
            <a:ext cx="291380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Visualize Averages</a:t>
            </a:r>
            <a:endParaRPr/>
          </a:p>
        </p:txBody>
      </p:sp>
      <p:sp>
        <p:nvSpPr>
          <p:cNvPr id="143" name="Google Shape;143;p15"/>
          <p:cNvSpPr txBox="1"/>
          <p:nvPr/>
        </p:nvSpPr>
        <p:spPr>
          <a:xfrm>
            <a:off x="8359675" y="5332509"/>
            <a:ext cx="2775049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Provide clear, visual subject-wise performance benchmarks and averages.</a:t>
            </a:r>
            <a:endParaRPr dirty="0"/>
          </a:p>
        </p:txBody>
      </p:sp>
      <p:pic>
        <p:nvPicPr>
          <p:cNvPr id="144" name="Google Shape;144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057275" y="1708068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708475" y="1708068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5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359675" y="1708068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5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72023" y="4371405"/>
            <a:ext cx="4286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5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4737971" y="4341909"/>
            <a:ext cx="390525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15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8374423" y="4371405"/>
            <a:ext cx="342900" cy="34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5676923"/>
            <a:ext cx="10668000" cy="741394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314765"/>
            <a:ext cx="5095875" cy="393319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6" name="Google Shape;156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332882"/>
            <a:ext cx="5095875" cy="391507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16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Dataset Overview &amp; Cleaning</a:t>
            </a:r>
            <a:endParaRPr/>
          </a:p>
        </p:txBody>
      </p:sp>
      <p:sp>
        <p:nvSpPr>
          <p:cNvPr id="158" name="Google Shape;158;p16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6"/>
          <p:cNvSpPr txBox="1"/>
          <p:nvPr/>
        </p:nvSpPr>
        <p:spPr>
          <a:xfrm>
            <a:off x="1771650" y="5954069"/>
            <a:ext cx="771525" cy="181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Raw Data</a:t>
            </a:r>
            <a:endParaRPr/>
          </a:p>
        </p:txBody>
      </p:sp>
      <p:pic>
        <p:nvPicPr>
          <p:cNvPr id="160" name="Google Shape;16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022089" y="5930414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6"/>
          <p:cNvSpPr txBox="1"/>
          <p:nvPr/>
        </p:nvSpPr>
        <p:spPr>
          <a:xfrm>
            <a:off x="4349650" y="5954069"/>
            <a:ext cx="1152525" cy="181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Data Cleaning</a:t>
            </a:r>
            <a:endParaRPr/>
          </a:p>
        </p:txBody>
      </p:sp>
      <p:pic>
        <p:nvPicPr>
          <p:cNvPr id="162" name="Google Shape;162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981090" y="5930414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6"/>
          <p:cNvSpPr txBox="1"/>
          <p:nvPr/>
        </p:nvSpPr>
        <p:spPr>
          <a:xfrm>
            <a:off x="7308651" y="5954069"/>
            <a:ext cx="1028700" cy="181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Pivot Tables</a:t>
            </a:r>
            <a:endParaRPr/>
          </a:p>
        </p:txBody>
      </p:sp>
      <p:pic>
        <p:nvPicPr>
          <p:cNvPr id="164" name="Google Shape;164;p16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816266" y="5930414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16"/>
          <p:cNvSpPr txBox="1"/>
          <p:nvPr/>
        </p:nvSpPr>
        <p:spPr>
          <a:xfrm>
            <a:off x="10143827" y="5954069"/>
            <a:ext cx="895350" cy="181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Dashboard</a:t>
            </a:r>
            <a:endParaRPr/>
          </a:p>
        </p:txBody>
      </p:sp>
      <p:sp>
        <p:nvSpPr>
          <p:cNvPr id="166" name="Google Shape;166;p16"/>
          <p:cNvSpPr txBox="1"/>
          <p:nvPr/>
        </p:nvSpPr>
        <p:spPr>
          <a:xfrm>
            <a:off x="1057275" y="1610040"/>
            <a:ext cx="473059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9527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Dataset Columns</a:t>
            </a:r>
            <a:endParaRPr/>
          </a:p>
        </p:txBody>
      </p:sp>
      <p:sp>
        <p:nvSpPr>
          <p:cNvPr id="167" name="Google Shape;167;p16"/>
          <p:cNvSpPr txBox="1"/>
          <p:nvPr/>
        </p:nvSpPr>
        <p:spPr>
          <a:xfrm>
            <a:off x="6629400" y="1610040"/>
            <a:ext cx="4730591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24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Data Cleaning Process</a:t>
            </a:r>
            <a:endParaRPr/>
          </a:p>
        </p:txBody>
      </p:sp>
      <p:pic>
        <p:nvPicPr>
          <p:cNvPr id="168" name="Google Shape;168;p16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1152525" y="5806589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16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3730525" y="5806589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6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689526" y="5806589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16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9524702" y="5806589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16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1057275" y="1629090"/>
            <a:ext cx="20002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16"/>
          <p:cNvSpPr txBox="1"/>
          <p:nvPr/>
        </p:nvSpPr>
        <p:spPr>
          <a:xfrm>
            <a:off x="1323975" y="202914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Student ID</a:t>
            </a:r>
            <a:endParaRPr/>
          </a:p>
        </p:txBody>
      </p:sp>
      <p:sp>
        <p:nvSpPr>
          <p:cNvPr id="174" name="Google Shape;174;p16"/>
          <p:cNvSpPr txBox="1"/>
          <p:nvPr/>
        </p:nvSpPr>
        <p:spPr>
          <a:xfrm>
            <a:off x="1323975" y="241773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Student Name</a:t>
            </a:r>
            <a:endParaRPr/>
          </a:p>
        </p:txBody>
      </p:sp>
      <p:sp>
        <p:nvSpPr>
          <p:cNvPr id="175" name="Google Shape;175;p16"/>
          <p:cNvSpPr txBox="1"/>
          <p:nvPr/>
        </p:nvSpPr>
        <p:spPr>
          <a:xfrm>
            <a:off x="1323975" y="280632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Gender</a:t>
            </a:r>
            <a:endParaRPr/>
          </a:p>
        </p:txBody>
      </p:sp>
      <p:sp>
        <p:nvSpPr>
          <p:cNvPr id="176" name="Google Shape;176;p16"/>
          <p:cNvSpPr txBox="1"/>
          <p:nvPr/>
        </p:nvSpPr>
        <p:spPr>
          <a:xfrm>
            <a:off x="1323975" y="319491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Stream</a:t>
            </a:r>
            <a:endParaRPr/>
          </a:p>
        </p:txBody>
      </p:sp>
      <p:sp>
        <p:nvSpPr>
          <p:cNvPr id="177" name="Google Shape;177;p16"/>
          <p:cNvSpPr txBox="1"/>
          <p:nvPr/>
        </p:nvSpPr>
        <p:spPr>
          <a:xfrm>
            <a:off x="1323975" y="358350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Section</a:t>
            </a:r>
            <a:endParaRPr/>
          </a:p>
        </p:txBody>
      </p:sp>
      <p:sp>
        <p:nvSpPr>
          <p:cNvPr id="178" name="Google Shape;178;p16"/>
          <p:cNvSpPr txBox="1"/>
          <p:nvPr/>
        </p:nvSpPr>
        <p:spPr>
          <a:xfrm>
            <a:off x="1323975" y="3972091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Subject Marks</a:t>
            </a:r>
            <a:endParaRPr/>
          </a:p>
        </p:txBody>
      </p:sp>
      <p:sp>
        <p:nvSpPr>
          <p:cNvPr id="179" name="Google Shape;179;p16"/>
          <p:cNvSpPr txBox="1"/>
          <p:nvPr/>
        </p:nvSpPr>
        <p:spPr>
          <a:xfrm>
            <a:off x="3719512" y="202914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Total Marks</a:t>
            </a:r>
            <a:endParaRPr/>
          </a:p>
        </p:txBody>
      </p:sp>
      <p:sp>
        <p:nvSpPr>
          <p:cNvPr id="180" name="Google Shape;180;p16"/>
          <p:cNvSpPr txBox="1"/>
          <p:nvPr/>
        </p:nvSpPr>
        <p:spPr>
          <a:xfrm>
            <a:off x="3719512" y="241773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Average</a:t>
            </a:r>
            <a:endParaRPr/>
          </a:p>
        </p:txBody>
      </p:sp>
      <p:sp>
        <p:nvSpPr>
          <p:cNvPr id="181" name="Google Shape;181;p16"/>
          <p:cNvSpPr txBox="1"/>
          <p:nvPr/>
        </p:nvSpPr>
        <p:spPr>
          <a:xfrm>
            <a:off x="3719512" y="280632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Position</a:t>
            </a:r>
            <a:endParaRPr/>
          </a:p>
        </p:txBody>
      </p:sp>
      <p:sp>
        <p:nvSpPr>
          <p:cNvPr id="182" name="Google Shape;182;p16"/>
          <p:cNvSpPr txBox="1"/>
          <p:nvPr/>
        </p:nvSpPr>
        <p:spPr>
          <a:xfrm>
            <a:off x="3719512" y="319491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Grade</a:t>
            </a:r>
            <a:endParaRPr/>
          </a:p>
        </p:txBody>
      </p:sp>
      <p:sp>
        <p:nvSpPr>
          <p:cNvPr id="183" name="Google Shape;183;p16"/>
          <p:cNvSpPr txBox="1"/>
          <p:nvPr/>
        </p:nvSpPr>
        <p:spPr>
          <a:xfrm>
            <a:off x="3719512" y="3583500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Attendance</a:t>
            </a:r>
            <a:endParaRPr/>
          </a:p>
        </p:txBody>
      </p:sp>
      <p:sp>
        <p:nvSpPr>
          <p:cNvPr id="184" name="Google Shape;184;p16"/>
          <p:cNvSpPr txBox="1"/>
          <p:nvPr/>
        </p:nvSpPr>
        <p:spPr>
          <a:xfrm>
            <a:off x="3719512" y="3972091"/>
            <a:ext cx="1843087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Remark</a:t>
            </a:r>
            <a:endParaRPr/>
          </a:p>
        </p:txBody>
      </p:sp>
      <p:pic>
        <p:nvPicPr>
          <p:cNvPr id="185" name="Google Shape;185;p16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629400" y="1629090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6"/>
          <p:cNvSpPr txBox="1"/>
          <p:nvPr/>
        </p:nvSpPr>
        <p:spPr>
          <a:xfrm>
            <a:off x="6896100" y="1925904"/>
            <a:ext cx="4238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Remove duplicates: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Ensure unique student records.</a:t>
            </a:r>
            <a:endParaRPr dirty="0"/>
          </a:p>
        </p:txBody>
      </p:sp>
      <p:sp>
        <p:nvSpPr>
          <p:cNvPr id="187" name="Google Shape;187;p16"/>
          <p:cNvSpPr txBox="1"/>
          <p:nvPr/>
        </p:nvSpPr>
        <p:spPr>
          <a:xfrm>
            <a:off x="6896100" y="2371074"/>
            <a:ext cx="4238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Correct formatting: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Standardize text and numbers.</a:t>
            </a:r>
            <a:endParaRPr/>
          </a:p>
        </p:txBody>
      </p:sp>
      <p:sp>
        <p:nvSpPr>
          <p:cNvPr id="188" name="Google Shape;188;p16"/>
          <p:cNvSpPr txBox="1"/>
          <p:nvPr/>
        </p:nvSpPr>
        <p:spPr>
          <a:xfrm>
            <a:off x="6896100" y="2759664"/>
            <a:ext cx="4238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Handle missing values: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Impute or clean blank entries.</a:t>
            </a:r>
            <a:endParaRPr/>
          </a:p>
        </p:txBody>
      </p:sp>
      <p:sp>
        <p:nvSpPr>
          <p:cNvPr id="189" name="Google Shape;189;p16"/>
          <p:cNvSpPr txBox="1"/>
          <p:nvPr/>
        </p:nvSpPr>
        <p:spPr>
          <a:xfrm>
            <a:off x="6896100" y="3127585"/>
            <a:ext cx="423862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Validate marks: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Ensure numeric consistency.</a:t>
            </a:r>
            <a:endParaRPr dirty="0"/>
          </a:p>
        </p:txBody>
      </p:sp>
      <p:sp>
        <p:nvSpPr>
          <p:cNvPr id="190" name="Google Shape;190;p16"/>
          <p:cNvSpPr txBox="1"/>
          <p:nvPr/>
        </p:nvSpPr>
        <p:spPr>
          <a:xfrm>
            <a:off x="6896100" y="3516175"/>
            <a:ext cx="4238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Calculate metrics: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Auto-calculate Total and Average.</a:t>
            </a:r>
            <a:endParaRPr dirty="0"/>
          </a:p>
        </p:txBody>
      </p:sp>
      <p:sp>
        <p:nvSpPr>
          <p:cNvPr id="191" name="Google Shape;191;p16"/>
          <p:cNvSpPr txBox="1"/>
          <p:nvPr/>
        </p:nvSpPr>
        <p:spPr>
          <a:xfrm>
            <a:off x="6896100" y="3869347"/>
            <a:ext cx="423862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Assign logic: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Conditionally assign Grades based on logic.</a:t>
            </a:r>
            <a:endParaRPr dirty="0"/>
          </a:p>
        </p:txBody>
      </p:sp>
      <p:pic>
        <p:nvPicPr>
          <p:cNvPr id="192" name="Google Shape;192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210534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249393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288252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327111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365970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1104900" y="404829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210534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9" name="Google Shape;199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249393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0" name="Google Shape;200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288252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1" name="Google Shape;201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327111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2" name="Google Shape;202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365970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3500437" y="404829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210534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255051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291007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3660037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8" name="Google Shape;208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399057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16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77025" y="3252369"/>
            <a:ext cx="76200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" name="Google Shape;21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23283" y="5512191"/>
            <a:ext cx="5095875" cy="1120833"/>
          </a:xfrm>
          <a:prstGeom prst="rect">
            <a:avLst/>
          </a:prstGeom>
          <a:noFill/>
          <a:ln>
            <a:noFill/>
          </a:ln>
        </p:spPr>
      </p:pic>
      <p:sp>
        <p:nvSpPr>
          <p:cNvPr id="216" name="Google Shape;216;p17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Interactive Dashboard</a:t>
            </a:r>
            <a:endParaRPr/>
          </a:p>
        </p:txBody>
      </p:sp>
      <p:sp>
        <p:nvSpPr>
          <p:cNvPr id="217" name="Google Shape;217;p17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17"/>
          <p:cNvSpPr txBox="1"/>
          <p:nvPr/>
        </p:nvSpPr>
        <p:spPr>
          <a:xfrm>
            <a:off x="762000" y="1344261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238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Key Performance Indicators</a:t>
            </a:r>
            <a:endParaRPr/>
          </a:p>
        </p:txBody>
      </p:sp>
      <p:sp>
        <p:nvSpPr>
          <p:cNvPr id="219" name="Google Shape;219;p17"/>
          <p:cNvSpPr txBox="1"/>
          <p:nvPr/>
        </p:nvSpPr>
        <p:spPr>
          <a:xfrm>
            <a:off x="762000" y="3047061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24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Visual Analytics</a:t>
            </a:r>
            <a:endParaRPr/>
          </a:p>
        </p:txBody>
      </p:sp>
      <p:sp>
        <p:nvSpPr>
          <p:cNvPr id="220" name="Google Shape;220;p17"/>
          <p:cNvSpPr txBox="1"/>
          <p:nvPr/>
        </p:nvSpPr>
        <p:spPr>
          <a:xfrm>
            <a:off x="762000" y="4849984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238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Interactive Controls</a:t>
            </a:r>
            <a:endParaRPr/>
          </a:p>
        </p:txBody>
      </p:sp>
      <p:pic>
        <p:nvPicPr>
          <p:cNvPr id="222" name="Google Shape;222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62000" y="1363311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17"/>
          <p:cNvSpPr txBox="1"/>
          <p:nvPr/>
        </p:nvSpPr>
        <p:spPr>
          <a:xfrm>
            <a:off x="1028700" y="1690791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Total Students, Passed, and Failed Counts</a:t>
            </a:r>
            <a:endParaRPr/>
          </a:p>
        </p:txBody>
      </p:sp>
      <p:sp>
        <p:nvSpPr>
          <p:cNvPr id="224" name="Google Shape;224;p17"/>
          <p:cNvSpPr txBox="1"/>
          <p:nvPr/>
        </p:nvSpPr>
        <p:spPr>
          <a:xfrm>
            <a:off x="1028700" y="2079381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1st Rank Overall Student Spotlight</a:t>
            </a:r>
            <a:endParaRPr/>
          </a:p>
        </p:txBody>
      </p:sp>
      <p:sp>
        <p:nvSpPr>
          <p:cNvPr id="225" name="Google Shape;225;p17"/>
          <p:cNvSpPr txBox="1"/>
          <p:nvPr/>
        </p:nvSpPr>
        <p:spPr>
          <a:xfrm>
            <a:off x="1028700" y="2467971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Average Marks Obtained per Subject Summary</a:t>
            </a:r>
            <a:endParaRPr/>
          </a:p>
        </p:txBody>
      </p:sp>
      <p:pic>
        <p:nvPicPr>
          <p:cNvPr id="226" name="Google Shape;226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3066111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17"/>
          <p:cNvSpPr txBox="1"/>
          <p:nvPr/>
        </p:nvSpPr>
        <p:spPr>
          <a:xfrm>
            <a:off x="1028700" y="3466161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Doughnut/Pie: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Grade Distribution by Gender &amp; Overall</a:t>
            </a:r>
            <a:endParaRPr/>
          </a:p>
        </p:txBody>
      </p:sp>
      <p:sp>
        <p:nvSpPr>
          <p:cNvPr id="228" name="Google Shape;228;p17"/>
          <p:cNvSpPr txBox="1"/>
          <p:nvPr/>
        </p:nvSpPr>
        <p:spPr>
          <a:xfrm>
            <a:off x="1028700" y="3854751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Column Charts: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Grade Count by Stream &amp; Subject Averages</a:t>
            </a:r>
            <a:endParaRPr/>
          </a:p>
        </p:txBody>
      </p:sp>
      <p:sp>
        <p:nvSpPr>
          <p:cNvPr id="229" name="Google Shape;229;p17"/>
          <p:cNvSpPr txBox="1"/>
          <p:nvPr/>
        </p:nvSpPr>
        <p:spPr>
          <a:xfrm>
            <a:off x="1028700" y="4270894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Funnel Chart: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Top 10 Performing Students</a:t>
            </a:r>
            <a:endParaRPr/>
          </a:p>
        </p:txBody>
      </p:sp>
      <p:pic>
        <p:nvPicPr>
          <p:cNvPr id="230" name="Google Shape;230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4825492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17"/>
          <p:cNvSpPr txBox="1"/>
          <p:nvPr/>
        </p:nvSpPr>
        <p:spPr>
          <a:xfrm>
            <a:off x="1028700" y="5152972"/>
            <a:ext cx="4829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Slicers for Gender, Stream, and Grade filtering</a:t>
            </a:r>
            <a:endParaRPr dirty="0"/>
          </a:p>
        </p:txBody>
      </p:sp>
      <p:sp>
        <p:nvSpPr>
          <p:cNvPr id="232" name="Google Shape;232;p17"/>
          <p:cNvSpPr txBox="1"/>
          <p:nvPr/>
        </p:nvSpPr>
        <p:spPr>
          <a:xfrm>
            <a:off x="1028700" y="5527048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Built-in navigation buttons (Raw Data, Clean Data, Report Card)</a:t>
            </a:r>
            <a:endParaRPr dirty="0"/>
          </a:p>
        </p:txBody>
      </p:sp>
      <p:sp>
        <p:nvSpPr>
          <p:cNvPr id="233" name="Google Shape;233;p17"/>
          <p:cNvSpPr txBox="1"/>
          <p:nvPr/>
        </p:nvSpPr>
        <p:spPr>
          <a:xfrm>
            <a:off x="5707750" y="5554924"/>
            <a:ext cx="4676775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12395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 Interaction: Slicers update every Pivot Table and Pivot Chart dynamically, granting instantaneous data insights.</a:t>
            </a:r>
            <a:endParaRPr dirty="0"/>
          </a:p>
        </p:txBody>
      </p:sp>
      <p:pic>
        <p:nvPicPr>
          <p:cNvPr id="234" name="Google Shape;234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1825047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5" name="Google Shape;235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222815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258771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3629445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400352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437612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30174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690332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651174" y="5662204"/>
            <a:ext cx="133350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B0C01A5-0A9D-FE07-D3EA-79D98D4388C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57875" y="1705457"/>
            <a:ext cx="5960225" cy="307381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8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Dynamic Report Card Module</a:t>
            </a:r>
            <a:endParaRPr/>
          </a:p>
        </p:txBody>
      </p:sp>
      <p:sp>
        <p:nvSpPr>
          <p:cNvPr id="249" name="Google Shape;249;p18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8"/>
          <p:cNvSpPr txBox="1"/>
          <p:nvPr/>
        </p:nvSpPr>
        <p:spPr>
          <a:xfrm>
            <a:off x="762000" y="1711326"/>
            <a:ext cx="535066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24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Automated Student Profiles</a:t>
            </a:r>
            <a:endParaRPr/>
          </a:p>
        </p:txBody>
      </p:sp>
      <p:sp>
        <p:nvSpPr>
          <p:cNvPr id="251" name="Google Shape;251;p18"/>
          <p:cNvSpPr txBox="1"/>
          <p:nvPr/>
        </p:nvSpPr>
        <p:spPr>
          <a:xfrm>
            <a:off x="762000" y="2130426"/>
            <a:ext cx="5095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The Report Card module serves as a deep dive into individual student performance, generated completely autonomously via dashboard interactions.</a:t>
            </a:r>
            <a:endParaRPr dirty="0"/>
          </a:p>
        </p:txBody>
      </p:sp>
      <p:pic>
        <p:nvPicPr>
          <p:cNvPr id="254" name="Google Shape;254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1730376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18"/>
          <p:cNvSpPr txBox="1"/>
          <p:nvPr/>
        </p:nvSpPr>
        <p:spPr>
          <a:xfrm>
            <a:off x="1028700" y="3122934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Dynamic Selection: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Students are selected instantly using a connected slicer UI.</a:t>
            </a:r>
            <a:endParaRPr dirty="0"/>
          </a:p>
        </p:txBody>
      </p:sp>
      <p:sp>
        <p:nvSpPr>
          <p:cNvPr id="256" name="Google Shape;256;p18"/>
          <p:cNvSpPr txBox="1"/>
          <p:nvPr/>
        </p:nvSpPr>
        <p:spPr>
          <a:xfrm>
            <a:off x="1028700" y="3727759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Comprehensive Display: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Automatically retrieves Name, ID, Percentage, Rank, Grade, Remarks, Stream, and Section.</a:t>
            </a:r>
            <a:endParaRPr/>
          </a:p>
        </p:txBody>
      </p:sp>
      <p:sp>
        <p:nvSpPr>
          <p:cNvPr id="257" name="Google Shape;257;p18"/>
          <p:cNvSpPr txBox="1"/>
          <p:nvPr/>
        </p:nvSpPr>
        <p:spPr>
          <a:xfrm>
            <a:off x="1028700" y="4332583"/>
            <a:ext cx="48291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Subject Breakdown:</a:t>
            </a: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Displays exact scores for all enrolled subjects side-by-side.</a:t>
            </a:r>
            <a:endParaRPr dirty="0"/>
          </a:p>
        </p:txBody>
      </p:sp>
      <p:pic>
        <p:nvPicPr>
          <p:cNvPr id="262" name="Google Shape;262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" y="325719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" y="3803959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9625" y="4466839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C7ECD33-A537-ADB7-C5D8-5D461FCD726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57876" y="1578887"/>
            <a:ext cx="5993038" cy="35663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2" name="Google Shape;27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16097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76625" y="16097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91250" y="16097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905875" y="16097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23907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19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476625" y="23907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19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191250" y="23907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19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905875" y="23907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19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762000" y="31718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19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476625" y="31718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19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191250" y="31718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19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905875" y="317182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19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62000" y="39528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19" descr="image.png"/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3476625" y="39528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19" descr="image.png"/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6191250" y="3952875"/>
            <a:ext cx="2524125" cy="590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19" descr="image.png"/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8905875" y="3952875"/>
            <a:ext cx="2524125" cy="590550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19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Tools &amp; Technologies</a:t>
            </a:r>
            <a:endParaRPr/>
          </a:p>
        </p:txBody>
      </p:sp>
      <p:sp>
        <p:nvSpPr>
          <p:cNvPr id="289" name="Google Shape;289;p19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0" name="Google Shape;290;p19" descr="image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942975" y="18097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19" descr="image.png"/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3657600" y="18097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19" descr="image.png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6372225" y="18097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19" descr="image.png"/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9086850" y="18097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19" descr="image.png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942975" y="25908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19" descr="image.png"/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3657600" y="25908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19" descr="image.png"/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6372225" y="25908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19" descr="image.png"/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9086850" y="25908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19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942975" y="33718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19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3657600" y="33718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19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6372225" y="33718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19" descr="image.png"/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9086850" y="337185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19" descr="image.png"/>
          <p:cNvPicPr preferRelativeResize="0"/>
          <p:nvPr/>
        </p:nvPicPr>
        <p:blipFill rotWithShape="1">
          <a:blip r:embed="rId28">
            <a:alphaModFix/>
          </a:blip>
          <a:srcRect/>
          <a:stretch/>
        </p:blipFill>
        <p:spPr>
          <a:xfrm>
            <a:off x="942975" y="41529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19" descr="image.png"/>
          <p:cNvPicPr preferRelativeResize="0"/>
          <p:nvPr/>
        </p:nvPicPr>
        <p:blipFill rotWithShape="1">
          <a:blip r:embed="rId28">
            <a:alphaModFix/>
          </a:blip>
          <a:srcRect/>
          <a:stretch/>
        </p:blipFill>
        <p:spPr>
          <a:xfrm>
            <a:off x="3657600" y="41529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19" descr="image.png"/>
          <p:cNvPicPr preferRelativeResize="0"/>
          <p:nvPr/>
        </p:nvPicPr>
        <p:blipFill rotWithShape="1">
          <a:blip r:embed="rId29">
            <a:alphaModFix/>
          </a:blip>
          <a:srcRect/>
          <a:stretch/>
        </p:blipFill>
        <p:spPr>
          <a:xfrm>
            <a:off x="6372225" y="4152900"/>
            <a:ext cx="22860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19" descr="image.png"/>
          <p:cNvPicPr preferRelativeResize="0"/>
          <p:nvPr/>
        </p:nvPicPr>
        <p:blipFill rotWithShape="1">
          <a:blip r:embed="rId30">
            <a:alphaModFix/>
          </a:blip>
          <a:srcRect/>
          <a:stretch/>
        </p:blipFill>
        <p:spPr>
          <a:xfrm>
            <a:off x="9086850" y="4152900"/>
            <a:ext cx="228600" cy="190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0" name="Google Shape;310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62000" y="1609725"/>
            <a:ext cx="2524125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476625" y="1609725"/>
            <a:ext cx="2524125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91250" y="1609725"/>
            <a:ext cx="2524125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905875" y="1609725"/>
            <a:ext cx="2524125" cy="103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62000" y="2933700"/>
            <a:ext cx="5191125" cy="349924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238875" y="2933700"/>
            <a:ext cx="5191125" cy="3499246"/>
          </a:xfrm>
          <a:prstGeom prst="rect">
            <a:avLst/>
          </a:prstGeom>
          <a:noFill/>
          <a:ln>
            <a:noFill/>
          </a:ln>
        </p:spPr>
      </p:pic>
      <p:sp>
        <p:nvSpPr>
          <p:cNvPr id="316" name="Google Shape;316;p20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Key Findings &amp; Insights</a:t>
            </a:r>
            <a:endParaRPr/>
          </a:p>
        </p:txBody>
      </p:sp>
      <p:sp>
        <p:nvSpPr>
          <p:cNvPr id="317" name="Google Shape;317;p20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20"/>
          <p:cNvSpPr txBox="1"/>
          <p:nvPr/>
        </p:nvSpPr>
        <p:spPr>
          <a:xfrm>
            <a:off x="962025" y="1838325"/>
            <a:ext cx="212407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>
                <a:solidFill>
                  <a:srgbClr val="0F172A"/>
                </a:solidFill>
              </a:rPr>
              <a:t>50</a:t>
            </a:r>
            <a:endParaRPr dirty="0"/>
          </a:p>
        </p:txBody>
      </p:sp>
      <p:sp>
        <p:nvSpPr>
          <p:cNvPr id="319" name="Google Shape;319;p20"/>
          <p:cNvSpPr txBox="1"/>
          <p:nvPr/>
        </p:nvSpPr>
        <p:spPr>
          <a:xfrm>
            <a:off x="962025" y="2286000"/>
            <a:ext cx="21240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TOTAL STUDENTS ANALYZED</a:t>
            </a:r>
            <a:endParaRPr/>
          </a:p>
        </p:txBody>
      </p:sp>
      <p:sp>
        <p:nvSpPr>
          <p:cNvPr id="320" name="Google Shape;320;p20"/>
          <p:cNvSpPr txBox="1"/>
          <p:nvPr/>
        </p:nvSpPr>
        <p:spPr>
          <a:xfrm>
            <a:off x="3676650" y="1838325"/>
            <a:ext cx="212407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  <a:endParaRPr dirty="0"/>
          </a:p>
        </p:txBody>
      </p:sp>
      <p:sp>
        <p:nvSpPr>
          <p:cNvPr id="321" name="Google Shape;321;p20"/>
          <p:cNvSpPr txBox="1"/>
          <p:nvPr/>
        </p:nvSpPr>
        <p:spPr>
          <a:xfrm>
            <a:off x="3676650" y="2286000"/>
            <a:ext cx="21240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OVERALL PASS RATE</a:t>
            </a:r>
            <a:endParaRPr/>
          </a:p>
        </p:txBody>
      </p:sp>
      <p:sp>
        <p:nvSpPr>
          <p:cNvPr id="322" name="Google Shape;322;p20"/>
          <p:cNvSpPr txBox="1"/>
          <p:nvPr/>
        </p:nvSpPr>
        <p:spPr>
          <a:xfrm>
            <a:off x="6391275" y="1838325"/>
            <a:ext cx="2124075" cy="4847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dirty="0">
                <a:solidFill>
                  <a:srgbClr val="0F172A"/>
                </a:solidFill>
              </a:rPr>
              <a:t>20</a:t>
            </a:r>
            <a:r>
              <a:rPr lang="en-US" sz="3150" b="0" i="0" u="none" strike="noStrike" cap="none" dirty="0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%</a:t>
            </a:r>
            <a:endParaRPr dirty="0"/>
          </a:p>
        </p:txBody>
      </p:sp>
      <p:sp>
        <p:nvSpPr>
          <p:cNvPr id="323" name="Google Shape;323;p20"/>
          <p:cNvSpPr txBox="1"/>
          <p:nvPr/>
        </p:nvSpPr>
        <p:spPr>
          <a:xfrm>
            <a:off x="6391275" y="2286000"/>
            <a:ext cx="21240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OVERALL FAIL RATE</a:t>
            </a:r>
            <a:endParaRPr/>
          </a:p>
        </p:txBody>
      </p:sp>
      <p:sp>
        <p:nvSpPr>
          <p:cNvPr id="324" name="Google Shape;324;p20"/>
          <p:cNvSpPr txBox="1"/>
          <p:nvPr/>
        </p:nvSpPr>
        <p:spPr>
          <a:xfrm>
            <a:off x="9105900" y="1914525"/>
            <a:ext cx="212407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Kumari N.</a:t>
            </a:r>
            <a:endParaRPr/>
          </a:p>
        </p:txBody>
      </p:sp>
      <p:sp>
        <p:nvSpPr>
          <p:cNvPr id="325" name="Google Shape;325;p20"/>
          <p:cNvSpPr txBox="1"/>
          <p:nvPr/>
        </p:nvSpPr>
        <p:spPr>
          <a:xfrm>
            <a:off x="9105900" y="2286000"/>
            <a:ext cx="2124075" cy="16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OVERALL TOP RANK</a:t>
            </a:r>
            <a:endParaRPr/>
          </a:p>
        </p:txBody>
      </p:sp>
      <p:sp>
        <p:nvSpPr>
          <p:cNvPr id="326" name="Google Shape;326;p20"/>
          <p:cNvSpPr txBox="1"/>
          <p:nvPr/>
        </p:nvSpPr>
        <p:spPr>
          <a:xfrm>
            <a:off x="1057275" y="3228975"/>
            <a:ext cx="483060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Performance Analytics</a:t>
            </a:r>
            <a:endParaRPr/>
          </a:p>
        </p:txBody>
      </p:sp>
      <p:sp>
        <p:nvSpPr>
          <p:cNvPr id="327" name="Google Shape;327;p20"/>
          <p:cNvSpPr txBox="1"/>
          <p:nvPr/>
        </p:nvSpPr>
        <p:spPr>
          <a:xfrm>
            <a:off x="6534150" y="3228975"/>
            <a:ext cx="483060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2857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Business Value</a:t>
            </a:r>
            <a:endParaRPr/>
          </a:p>
        </p:txBody>
      </p:sp>
      <p:pic>
        <p:nvPicPr>
          <p:cNvPr id="328" name="Google Shape;328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57275" y="324802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20"/>
          <p:cNvSpPr txBox="1"/>
          <p:nvPr/>
        </p:nvSpPr>
        <p:spPr>
          <a:xfrm>
            <a:off x="1323975" y="3600450"/>
            <a:ext cx="43338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Subject Averages: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Clear disparities identified in subject mastery (e.g., Mathematics vs. English).</a:t>
            </a:r>
            <a:endParaRPr/>
          </a:p>
        </p:txBody>
      </p:sp>
      <p:sp>
        <p:nvSpPr>
          <p:cNvPr id="330" name="Google Shape;330;p20"/>
          <p:cNvSpPr txBox="1"/>
          <p:nvPr/>
        </p:nvSpPr>
        <p:spPr>
          <a:xfrm>
            <a:off x="1323975" y="4263330"/>
            <a:ext cx="4333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Grade Distribution: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Visualization reveals the primary concentration of academic results within standard curves.</a:t>
            </a:r>
            <a:endParaRPr/>
          </a:p>
        </p:txBody>
      </p:sp>
      <p:sp>
        <p:nvSpPr>
          <p:cNvPr id="331" name="Google Shape;331;p20"/>
          <p:cNvSpPr txBox="1"/>
          <p:nvPr/>
        </p:nvSpPr>
        <p:spPr>
          <a:xfrm>
            <a:off x="1323975" y="5200501"/>
            <a:ext cx="4333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Demographic Trends: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Gender-wise grade analysis exposes varying academic strengths and weaknesses.</a:t>
            </a:r>
            <a:endParaRPr/>
          </a:p>
        </p:txBody>
      </p:sp>
      <p:pic>
        <p:nvPicPr>
          <p:cNvPr id="332" name="Google Shape;332;p20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534150" y="3248025"/>
            <a:ext cx="19050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20"/>
          <p:cNvSpPr txBox="1"/>
          <p:nvPr/>
        </p:nvSpPr>
        <p:spPr>
          <a:xfrm>
            <a:off x="6800850" y="3600450"/>
            <a:ext cx="4333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Decision Making: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Helps administrators identify underperforming streams instantly to allocate educational resources effectively.</a:t>
            </a:r>
            <a:endParaRPr/>
          </a:p>
        </p:txBody>
      </p:sp>
      <p:sp>
        <p:nvSpPr>
          <p:cNvPr id="334" name="Google Shape;334;p20"/>
          <p:cNvSpPr txBox="1"/>
          <p:nvPr/>
        </p:nvSpPr>
        <p:spPr>
          <a:xfrm>
            <a:off x="6800850" y="4537620"/>
            <a:ext cx="4333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Reward Systems: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Effortlessly extracts the Top 10 performing students for scholarship or recognition programs.</a:t>
            </a:r>
            <a:endParaRPr/>
          </a:p>
        </p:txBody>
      </p:sp>
      <p:sp>
        <p:nvSpPr>
          <p:cNvPr id="335" name="Google Shape;335;p20"/>
          <p:cNvSpPr txBox="1"/>
          <p:nvPr/>
        </p:nvSpPr>
        <p:spPr>
          <a:xfrm>
            <a:off x="6800850" y="5474791"/>
            <a:ext cx="4333875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Efficiency:</a:t>
            </a: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 Replaces hours of manual filtering with instant, click-based interactive reporting.</a:t>
            </a:r>
            <a:endParaRPr/>
          </a:p>
        </p:txBody>
      </p:sp>
      <p:pic>
        <p:nvPicPr>
          <p:cNvPr id="336" name="Google Shape;336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104900" y="367665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7" name="Google Shape;337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104900" y="433953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104900" y="5276701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581775" y="367665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581775" y="4613820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20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581775" y="5550991"/>
            <a:ext cx="76200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6" name="Google Shape;34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81125" y="2605087"/>
            <a:ext cx="180022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352800" y="2605087"/>
            <a:ext cx="178117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305425" y="2605087"/>
            <a:ext cx="21336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10475" y="2605087"/>
            <a:ext cx="32004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0" name="Google Shape;350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290637" y="3319462"/>
            <a:ext cx="226695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1" name="Google Shape;351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3729037" y="3319462"/>
            <a:ext cx="239077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291262" y="3319462"/>
            <a:ext cx="20955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21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558212" y="3319462"/>
            <a:ext cx="234315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21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1581150" y="4033837"/>
            <a:ext cx="220027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5" name="Google Shape;355;p21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3952875" y="4033837"/>
            <a:ext cx="20955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6" name="Google Shape;356;p21" descr="image.png"/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219825" y="4033837"/>
            <a:ext cx="2200275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7" name="Google Shape;357;p21" descr="image.png"/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8591550" y="4033837"/>
            <a:ext cx="2019300" cy="542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8" name="Google Shape;358;p21" descr="image.png"/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4881562" y="4748212"/>
            <a:ext cx="2428875" cy="542925"/>
          </a:xfrm>
          <a:prstGeom prst="rect">
            <a:avLst/>
          </a:prstGeom>
          <a:noFill/>
          <a:ln>
            <a:noFill/>
          </a:ln>
        </p:spPr>
      </p:pic>
      <p:sp>
        <p:nvSpPr>
          <p:cNvPr id="359" name="Google Shape;359;p21"/>
          <p:cNvSpPr txBox="1"/>
          <p:nvPr/>
        </p:nvSpPr>
        <p:spPr>
          <a:xfrm>
            <a:off x="762000" y="571500"/>
            <a:ext cx="11201400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Professional Skills Demonstrated</a:t>
            </a:r>
            <a:endParaRPr/>
          </a:p>
        </p:txBody>
      </p:sp>
      <p:sp>
        <p:nvSpPr>
          <p:cNvPr id="360" name="Google Shape;360;p21"/>
          <p:cNvSpPr/>
          <p:nvPr/>
        </p:nvSpPr>
        <p:spPr>
          <a:xfrm>
            <a:off x="762000" y="1200150"/>
            <a:ext cx="10668000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365;p22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283032"/>
            <a:ext cx="5095875" cy="6236642"/>
          </a:xfrm>
          <a:prstGeom prst="rect">
            <a:avLst/>
          </a:prstGeom>
          <a:noFill/>
          <a:ln>
            <a:noFill/>
          </a:ln>
        </p:spPr>
      </p:pic>
      <p:sp>
        <p:nvSpPr>
          <p:cNvPr id="366" name="Google Shape;366;p22"/>
          <p:cNvSpPr txBox="1"/>
          <p:nvPr/>
        </p:nvSpPr>
        <p:spPr>
          <a:xfrm>
            <a:off x="762000" y="571500"/>
            <a:ext cx="4950618" cy="514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150" b="1" i="0" u="none" strike="noStrike" cap="non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Conclusion</a:t>
            </a:r>
            <a:endParaRPr/>
          </a:p>
        </p:txBody>
      </p:sp>
      <p:sp>
        <p:nvSpPr>
          <p:cNvPr id="367" name="Google Shape;367;p22"/>
          <p:cNvSpPr/>
          <p:nvPr/>
        </p:nvSpPr>
        <p:spPr>
          <a:xfrm>
            <a:off x="762000" y="1200150"/>
            <a:ext cx="4714875" cy="28575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22"/>
          <p:cNvSpPr txBox="1"/>
          <p:nvPr/>
        </p:nvSpPr>
        <p:spPr>
          <a:xfrm>
            <a:off x="762000" y="1394280"/>
            <a:ext cx="4714875" cy="8228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This project successfully transforms raw, unstructured student academic data into highly meaningful, actionable business intelligence insights.</a:t>
            </a:r>
            <a:endParaRPr dirty="0"/>
          </a:p>
        </p:txBody>
      </p:sp>
      <p:sp>
        <p:nvSpPr>
          <p:cNvPr id="369" name="Google Shape;369;p22"/>
          <p:cNvSpPr txBox="1"/>
          <p:nvPr/>
        </p:nvSpPr>
        <p:spPr>
          <a:xfrm>
            <a:off x="762000" y="2477955"/>
            <a:ext cx="49506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52425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Key Benefits</a:t>
            </a:r>
            <a:endParaRPr/>
          </a:p>
        </p:txBody>
      </p:sp>
      <p:sp>
        <p:nvSpPr>
          <p:cNvPr id="370" name="Google Shape;370;p22"/>
          <p:cNvSpPr txBox="1"/>
          <p:nvPr/>
        </p:nvSpPr>
        <p:spPr>
          <a:xfrm>
            <a:off x="762000" y="4515373"/>
            <a:ext cx="4950618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238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2563EB"/>
                </a:solidFill>
                <a:latin typeface="Arial"/>
                <a:ea typeface="Arial"/>
                <a:cs typeface="Arial"/>
                <a:sym typeface="Arial"/>
              </a:rPr>
              <a:t>Future Scope</a:t>
            </a:r>
            <a:endParaRPr/>
          </a:p>
        </p:txBody>
      </p:sp>
      <p:pic>
        <p:nvPicPr>
          <p:cNvPr id="371" name="Google Shape;371;p22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497094" y="1689019"/>
            <a:ext cx="762000" cy="609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2" name="Google Shape;372;p22"/>
          <p:cNvSpPr txBox="1"/>
          <p:nvPr/>
        </p:nvSpPr>
        <p:spPr>
          <a:xfrm>
            <a:off x="6832839" y="2470365"/>
            <a:ext cx="4090511" cy="7009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0" i="0" u="none" strike="noStrike" cap="none" dirty="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sp>
        <p:nvSpPr>
          <p:cNvPr id="373" name="Google Shape;373;p22"/>
          <p:cNvSpPr/>
          <p:nvPr/>
        </p:nvSpPr>
        <p:spPr>
          <a:xfrm>
            <a:off x="7889875" y="3361191"/>
            <a:ext cx="1976437" cy="45719"/>
          </a:xfrm>
          <a:prstGeom prst="rect">
            <a:avLst/>
          </a:prstGeom>
          <a:noFill/>
          <a:ln w="19050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2"/>
          <p:cNvSpPr txBox="1"/>
          <p:nvPr/>
        </p:nvSpPr>
        <p:spPr>
          <a:xfrm>
            <a:off x="7377908" y="3462671"/>
            <a:ext cx="3000375" cy="15511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EFF6FF"/>
                </a:solidFill>
                <a:latin typeface="Arial"/>
                <a:ea typeface="Arial"/>
                <a:cs typeface="Arial"/>
                <a:sym typeface="Arial"/>
              </a:rPr>
              <a:t>Saket Aman</a:t>
            </a:r>
          </a:p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dirty="0">
                <a:solidFill>
                  <a:srgbClr val="EFF6FF"/>
                </a:solidFill>
              </a:rPr>
              <a:t>&amp;</a:t>
            </a:r>
            <a:endParaRPr lang="en-US" sz="2100" b="1" i="0" u="none" strike="noStrike" cap="none" dirty="0">
              <a:solidFill>
                <a:srgbClr val="EFF6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 dirty="0">
                <a:solidFill>
                  <a:srgbClr val="EFF6FF"/>
                </a:solidFill>
                <a:latin typeface="Arial"/>
                <a:ea typeface="Arial"/>
                <a:cs typeface="Arial"/>
                <a:sym typeface="Arial"/>
              </a:rPr>
              <a:t>Ramtanay Chakraborty</a:t>
            </a:r>
            <a:endParaRPr dirty="0"/>
          </a:p>
        </p:txBody>
      </p:sp>
      <p:sp>
        <p:nvSpPr>
          <p:cNvPr id="375" name="Google Shape;375;p22"/>
          <p:cNvSpPr txBox="1"/>
          <p:nvPr/>
        </p:nvSpPr>
        <p:spPr>
          <a:xfrm>
            <a:off x="7596980" y="5173245"/>
            <a:ext cx="2562225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BFDBFE"/>
                </a:solidFill>
                <a:latin typeface="Arial"/>
                <a:ea typeface="Arial"/>
                <a:cs typeface="Arial"/>
                <a:sym typeface="Arial"/>
              </a:rPr>
              <a:t>ASPIRING DATA ANALYST</a:t>
            </a:r>
            <a:endParaRPr dirty="0"/>
          </a:p>
        </p:txBody>
      </p:sp>
      <p:pic>
        <p:nvPicPr>
          <p:cNvPr id="376" name="Google Shape;376;p22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2497005"/>
            <a:ext cx="257175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77" name="Google Shape;377;p22"/>
          <p:cNvSpPr txBox="1"/>
          <p:nvPr/>
        </p:nvSpPr>
        <p:spPr>
          <a:xfrm>
            <a:off x="1028700" y="2897055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Highly Interactive &amp; Easy to Use</a:t>
            </a:r>
            <a:endParaRPr/>
          </a:p>
        </p:txBody>
      </p:sp>
      <p:sp>
        <p:nvSpPr>
          <p:cNvPr id="378" name="Google Shape;378;p22"/>
          <p:cNvSpPr txBox="1"/>
          <p:nvPr/>
        </p:nvSpPr>
        <p:spPr>
          <a:xfrm>
            <a:off x="1028700" y="3285645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Fast, Automated Reporting</a:t>
            </a:r>
            <a:endParaRPr/>
          </a:p>
        </p:txBody>
      </p:sp>
      <p:sp>
        <p:nvSpPr>
          <p:cNvPr id="379" name="Google Shape;379;p22"/>
          <p:cNvSpPr txBox="1"/>
          <p:nvPr/>
        </p:nvSpPr>
        <p:spPr>
          <a:xfrm>
            <a:off x="1028700" y="3674236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Dynamic Filtering Capabilities</a:t>
            </a:r>
            <a:endParaRPr/>
          </a:p>
        </p:txBody>
      </p:sp>
      <p:sp>
        <p:nvSpPr>
          <p:cNvPr id="380" name="Google Shape;380;p22"/>
          <p:cNvSpPr txBox="1"/>
          <p:nvPr/>
        </p:nvSpPr>
        <p:spPr>
          <a:xfrm>
            <a:off x="1028700" y="4062826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Professional, Clean Visualization</a:t>
            </a:r>
            <a:endParaRPr/>
          </a:p>
        </p:txBody>
      </p:sp>
      <p:pic>
        <p:nvPicPr>
          <p:cNvPr id="381" name="Google Shape;381;p22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62000" y="4534423"/>
            <a:ext cx="2286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22"/>
          <p:cNvSpPr txBox="1"/>
          <p:nvPr/>
        </p:nvSpPr>
        <p:spPr>
          <a:xfrm>
            <a:off x="1028700" y="4934473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Integration with Power Query &amp; Power Pivot</a:t>
            </a:r>
            <a:endParaRPr/>
          </a:p>
        </p:txBody>
      </p:sp>
      <p:sp>
        <p:nvSpPr>
          <p:cNvPr id="383" name="Google Shape;383;p22"/>
          <p:cNvSpPr txBox="1"/>
          <p:nvPr/>
        </p:nvSpPr>
        <p:spPr>
          <a:xfrm>
            <a:off x="1028700" y="5323063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Migration to Power BI Dashboards</a:t>
            </a:r>
            <a:endParaRPr/>
          </a:p>
        </p:txBody>
      </p:sp>
      <p:sp>
        <p:nvSpPr>
          <p:cNvPr id="384" name="Google Shape;384;p22"/>
          <p:cNvSpPr txBox="1"/>
          <p:nvPr/>
        </p:nvSpPr>
        <p:spPr>
          <a:xfrm>
            <a:off x="1028700" y="5711654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Automated PDF Report Card Generation</a:t>
            </a:r>
            <a:endParaRPr/>
          </a:p>
        </p:txBody>
      </p:sp>
      <p:sp>
        <p:nvSpPr>
          <p:cNvPr id="385" name="Google Shape;385;p22"/>
          <p:cNvSpPr txBox="1"/>
          <p:nvPr/>
        </p:nvSpPr>
        <p:spPr>
          <a:xfrm>
            <a:off x="1028700" y="6100244"/>
            <a:ext cx="4448175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Implementing Predictive Analytics Models</a:t>
            </a:r>
            <a:endParaRPr/>
          </a:p>
        </p:txBody>
      </p:sp>
      <p:pic>
        <p:nvPicPr>
          <p:cNvPr id="386" name="Google Shape;386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2973255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7" name="Google Shape;387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3361845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3750436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4139026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097757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399263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2" name="Google Shape;392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5787854"/>
            <a:ext cx="76200" cy="76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93" name="Google Shape;393;p22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9625" y="6176444"/>
            <a:ext cx="76200" cy="76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621</Words>
  <Application>Microsoft Office PowerPoint</Application>
  <PresentationFormat>Widescreen</PresentationFormat>
  <Paragraphs>108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Ramtanay Chakraborty</cp:lastModifiedBy>
  <cp:revision>4</cp:revision>
  <dcterms:modified xsi:type="dcterms:W3CDTF">2026-07-14T03:10:47Z</dcterms:modified>
</cp:coreProperties>
</file>