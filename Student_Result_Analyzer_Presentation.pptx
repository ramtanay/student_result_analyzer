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1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62000" y="1785639"/>
            <a:ext cx="4950618" cy="177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Student Result Analyzer Dashboard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3750468"/>
            <a:ext cx="4714875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Interactive Academic Performance Analysis using Microsoft Excel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62000" y="4919960"/>
            <a:ext cx="1690914" cy="63514"/>
          </a:xfrm>
          <a:prstGeom prst="rect">
            <a:avLst/>
          </a:prstGeom>
          <a:noFill/>
          <a:ln w="285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5234285"/>
            <a:ext cx="47148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Ramtanay Chakraborty &amp; Saket Aman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617071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571500"/>
            <a:ext cx="5095875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084" y="966489"/>
            <a:ext cx="4000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9634" y="966489"/>
            <a:ext cx="60007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373033"/>
            <a:ext cx="48006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5417277"/>
            <a:ext cx="48006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2650" y="5706408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1477929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The Challenge of Educational Data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1827372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Schools continually collect large volumes of student academic data. However, relying on manual analysis makes it exceptionally difficult to:</a:t>
            </a:r>
            <a:endParaRPr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745358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771650" y="5620683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Manual Analysis Problems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39050" y="5620683"/>
            <a:ext cx="22193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Excel Dashboard Solutions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28700" y="284074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Identify top-performing students efficiently.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28700" y="322933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individual student performance holistically.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028700" y="361792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Understand complex grade distributions.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28700" y="400651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Track historical pass and fail rates accurately.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28700" y="439510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outcomes across different academic streams.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028700" y="478369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Generate rapid, on-demand administrative reports.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56206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9925" y="56206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291694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30553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69412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08271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47130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859893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7;p15" descr="image.png">
            <a:extLst>
              <a:ext uri="{FF2B5EF4-FFF2-40B4-BE49-F238E27FC236}">
                <a16:creationId xmlns:a16="http://schemas.microsoft.com/office/drawing/2014/main" id="{2182B57E-A997-4B29-6BB1-EEA31666DC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252" y="1454547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8;p15" descr="image.png">
            <a:extLst>
              <a:ext uri="{FF2B5EF4-FFF2-40B4-BE49-F238E27FC236}">
                <a16:creationId xmlns:a16="http://schemas.microsoft.com/office/drawing/2014/main" id="{5772698B-DE6A-9BCB-BC47-A5A2240DE3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8452" y="1528029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9;p15" descr="image.png">
            <a:extLst>
              <a:ext uri="{FF2B5EF4-FFF2-40B4-BE49-F238E27FC236}">
                <a16:creationId xmlns:a16="http://schemas.microsoft.com/office/drawing/2014/main" id="{296A4F49-791A-CF05-C6A9-600658F976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9651" y="1528029"/>
            <a:ext cx="3365599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252" y="4116087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8452" y="4116087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9651" y="4116087"/>
            <a:ext cx="3365599" cy="235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57275" y="2220576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Analyze Performance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57275" y="2639676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Deeply analyze student academic performance using structured data modeling.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708475" y="2220576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Interactive Dashboard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708475" y="2639676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Build a fully interactive dashboard for intuitive, click-driven data exploration.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59675" y="2220576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Reports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59675" y="2639676"/>
            <a:ext cx="27750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Create dynamic report generation capabilities to automate standard academic reviews.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057275" y="4913409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Compare Grades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57275" y="5332509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Facilitate macro and micro comparisons of grades across subjects and demographics.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737971" y="4883913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Identify Performers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4737971" y="5303013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Instantly identify top academic performers overall and within specific streams.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8359675" y="4913409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Visualize Averages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359675" y="5332509"/>
            <a:ext cx="27750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Provide clear, visual subject-wise performance benchmarks and averages.</a:t>
            </a:r>
            <a:endParaRPr dirty="0"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170806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8475" y="1708068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9675" y="1708068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2023" y="437140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37971" y="4341909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74423" y="4371405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676923"/>
            <a:ext cx="10668000" cy="74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14765"/>
            <a:ext cx="5095875" cy="393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32882"/>
            <a:ext cx="5095875" cy="3915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Dataset Overview &amp; Cleaning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771650" y="5954069"/>
            <a:ext cx="771525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2089" y="59304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4349650" y="5954069"/>
            <a:ext cx="1152525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1090" y="59304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7308651" y="5954069"/>
            <a:ext cx="1028700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Pivot Tables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6266" y="59304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0143827" y="5954069"/>
            <a:ext cx="895350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057275" y="1610040"/>
            <a:ext cx="47305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Dataset Columns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629400" y="1610040"/>
            <a:ext cx="47305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Data Cleaning Process</a:t>
            </a:r>
            <a:endParaRPr/>
          </a:p>
        </p:txBody>
      </p:sp>
      <p:pic>
        <p:nvPicPr>
          <p:cNvPr id="168" name="Google Shape;16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30525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89526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24702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7275" y="162909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1323975" y="202914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ID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323975" y="241773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323975" y="280632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323975" y="319491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323975" y="358350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323975" y="3972091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Subject Marks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3719512" y="202914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Marks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3719512" y="241773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3719512" y="280632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719512" y="319491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3719512" y="358350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719512" y="3972091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Remark</a:t>
            </a:r>
            <a:endParaRPr/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29400" y="162909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6896100" y="1925904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Remove duplicates: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Ensure unique student records.</a:t>
            </a:r>
            <a:endParaRPr dirty="0"/>
          </a:p>
        </p:txBody>
      </p:sp>
      <p:sp>
        <p:nvSpPr>
          <p:cNvPr id="187" name="Google Shape;187;p16"/>
          <p:cNvSpPr txBox="1"/>
          <p:nvPr/>
        </p:nvSpPr>
        <p:spPr>
          <a:xfrm>
            <a:off x="6896100" y="2371074"/>
            <a:ext cx="4238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Correct formatting: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Standardize text and numbers.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896100" y="2759664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Handle missing values: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Impute or clean blank entries.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896100" y="3127585"/>
            <a:ext cx="4238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Validate marks: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Ensure numeric consistency.</a:t>
            </a:r>
            <a:endParaRPr dirty="0"/>
          </a:p>
        </p:txBody>
      </p:sp>
      <p:sp>
        <p:nvSpPr>
          <p:cNvPr id="190" name="Google Shape;190;p16"/>
          <p:cNvSpPr txBox="1"/>
          <p:nvPr/>
        </p:nvSpPr>
        <p:spPr>
          <a:xfrm>
            <a:off x="6896100" y="3516175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metrics: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Auto-calculate Total and Average.</a:t>
            </a:r>
            <a:endParaRPr dirty="0"/>
          </a:p>
        </p:txBody>
      </p:sp>
      <p:sp>
        <p:nvSpPr>
          <p:cNvPr id="191" name="Google Shape;191;p16"/>
          <p:cNvSpPr txBox="1"/>
          <p:nvPr/>
        </p:nvSpPr>
        <p:spPr>
          <a:xfrm>
            <a:off x="6896100" y="3869347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Assign logic: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Conditionally assign Grades based on logic.</a:t>
            </a:r>
            <a:endParaRPr dirty="0"/>
          </a:p>
        </p:txBody>
      </p:sp>
      <p:pic>
        <p:nvPicPr>
          <p:cNvPr id="192" name="Google Shape;192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210534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249393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288252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32711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36597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404829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210534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249393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288252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32711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36597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404829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210534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25505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291007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366003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399057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3252369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3283" y="5512191"/>
            <a:ext cx="5095875" cy="112083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Interactive Dashboard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762000" y="1344261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Key Performance Indicators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62000" y="3047061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Visual Analytics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62000" y="4849984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Interactive Controls</a:t>
            </a:r>
            <a:endParaRPr/>
          </a:p>
        </p:txBody>
      </p:sp>
      <p:pic>
        <p:nvPicPr>
          <p:cNvPr id="222" name="Google Shape;22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633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1028700" y="169079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Students, Passed, and Failed Counts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028700" y="207938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1st Rank Overall Student Spotlight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28700" y="246797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Average Marks Obtained per Subject Summary</a:t>
            </a:r>
            <a:endParaRPr/>
          </a:p>
        </p:txBody>
      </p:sp>
      <p:pic>
        <p:nvPicPr>
          <p:cNvPr id="226" name="Google Shape;22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066111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1028700" y="346616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Doughnut/Pie: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Grade Distribution by Gender &amp; Overall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028700" y="3854751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Column Charts: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Grade Count by Stream &amp; Subject Averages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1028700" y="4270894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Funnel Chart: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Top 10 Performing Students</a:t>
            </a:r>
            <a:endParaRPr/>
          </a:p>
        </p:txBody>
      </p:sp>
      <p:pic>
        <p:nvPicPr>
          <p:cNvPr id="230" name="Google Shape;23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8254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1028700" y="515297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Slicers for Gender, Stream, and Grade filtering</a:t>
            </a:r>
            <a:endParaRPr dirty="0"/>
          </a:p>
        </p:txBody>
      </p:sp>
      <p:sp>
        <p:nvSpPr>
          <p:cNvPr id="232" name="Google Shape;232;p17"/>
          <p:cNvSpPr txBox="1"/>
          <p:nvPr/>
        </p:nvSpPr>
        <p:spPr>
          <a:xfrm>
            <a:off x="1028700" y="5527048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Built-in navigation buttons (Raw Data, Clean Data, Report Card)</a:t>
            </a:r>
            <a:endParaRPr dirty="0"/>
          </a:p>
        </p:txBody>
      </p:sp>
      <p:sp>
        <p:nvSpPr>
          <p:cNvPr id="233" name="Google Shape;233;p17"/>
          <p:cNvSpPr txBox="1"/>
          <p:nvPr/>
        </p:nvSpPr>
        <p:spPr>
          <a:xfrm>
            <a:off x="5707750" y="5554924"/>
            <a:ext cx="46767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Interaction: Slicers update every Pivot Table and Pivot Chart dynamically, granting instantaneous data insights.</a:t>
            </a:r>
            <a:endParaRPr dirty="0"/>
          </a:p>
        </p:txBody>
      </p:sp>
      <p:pic>
        <p:nvPicPr>
          <p:cNvPr id="234" name="Google Shape;23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182504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22815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58771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62944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00352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37612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30174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69033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51174" y="5662204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C01A5-0A9D-FE07-D3EA-79D98D4388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7875" y="1705457"/>
            <a:ext cx="5960225" cy="3073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Report Card Module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62000" y="1711326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Automated Student Profiles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762000" y="2130426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Report Card module serves as a deep dive into individual student performance, generated completely autonomously via dashboard interactions.</a:t>
            </a:r>
            <a:endParaRPr dirty="0"/>
          </a:p>
        </p:txBody>
      </p:sp>
      <p:pic>
        <p:nvPicPr>
          <p:cNvPr id="254" name="Google Shape;2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73037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/>
        </p:nvSpPr>
        <p:spPr>
          <a:xfrm>
            <a:off x="1028700" y="3122934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Selection: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Students are selected instantly using a connected slicer UI.</a:t>
            </a:r>
            <a:endParaRPr dirty="0"/>
          </a:p>
        </p:txBody>
      </p:sp>
      <p:sp>
        <p:nvSpPr>
          <p:cNvPr id="256" name="Google Shape;256;p18"/>
          <p:cNvSpPr txBox="1"/>
          <p:nvPr/>
        </p:nvSpPr>
        <p:spPr>
          <a:xfrm>
            <a:off x="1028700" y="3727759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Comprehensive Display: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Automatically retrieves Name, ID, Percentage, Rank, Grade, Remarks, Stream, and Section.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028700" y="4332583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Subject Breakdown: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Displays exact scores for all enrolled subjects side-by-side.</a:t>
            </a:r>
            <a:endParaRPr dirty="0"/>
          </a:p>
        </p:txBody>
      </p:sp>
      <p:pic>
        <p:nvPicPr>
          <p:cNvPr id="262" name="Google Shape;2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25719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803959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466839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7ECD33-A537-ADB7-C5D8-5D461FCD7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6" y="1578887"/>
            <a:ext cx="5993038" cy="35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76625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0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05875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76625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91250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905875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2000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76625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191250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05875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Tools &amp; Technologies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9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42975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657600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372225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9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9086850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42975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9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3657600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9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372225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9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9086850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42975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657600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6372225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086850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9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942975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9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3657600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9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372225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9" descr="image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9086850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933700"/>
            <a:ext cx="5191125" cy="349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2933700"/>
            <a:ext cx="5191125" cy="349924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0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Findings &amp; Insights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962025" y="1838325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962025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TOTAL STUDENTS ANALYZED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3676650" y="1838325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3676650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PASS RATE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6391275" y="1838325"/>
            <a:ext cx="2124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6391275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FAIL RATE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9105900" y="1914525"/>
            <a:ext cx="2124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Kumari N.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9105900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TOP RANK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057275" y="3228975"/>
            <a:ext cx="483060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Performance Analytics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534150" y="3228975"/>
            <a:ext cx="483060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/>
          </a:p>
        </p:txBody>
      </p:sp>
      <p:pic>
        <p:nvPicPr>
          <p:cNvPr id="328" name="Google Shape;32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32480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1323975" y="3600450"/>
            <a:ext cx="4333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Subject Averages: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Clear disparities identified in subject mastery (e.g., Mathematics vs. English).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323975" y="4263330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Grade Distribution: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Visualization reveals the primary concentration of academic results within standard curves.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1323975" y="5200501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Demographic Trends: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Gender-wise grade analysis exposes varying academic strengths and weaknesses.</a:t>
            </a:r>
            <a:endParaRPr/>
          </a:p>
        </p:txBody>
      </p:sp>
      <p:pic>
        <p:nvPicPr>
          <p:cNvPr id="332" name="Google Shape;33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32480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6800850" y="3600450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Decision Making: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Helps administrators identify underperforming streams instantly to allocate educational resources effectively.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6800850" y="4537620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Reward Systems: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Effortlessly extracts the Top 10 performing students for scholarship or recognition programs.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6800850" y="5474791"/>
            <a:ext cx="4333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Replaces hours of manual filtering with instant, click-based interactive reporting.</a:t>
            </a:r>
            <a:endParaRPr/>
          </a:p>
        </p:txBody>
      </p:sp>
      <p:pic>
        <p:nvPicPr>
          <p:cNvPr id="336" name="Google Shape;33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" y="36766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" y="433953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" y="527670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36766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461382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5550991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125" y="2605087"/>
            <a:ext cx="18002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2605087"/>
            <a:ext cx="17811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5425" y="2605087"/>
            <a:ext cx="21336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0475" y="2605087"/>
            <a:ext cx="32004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90637" y="3319462"/>
            <a:ext cx="22669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29037" y="3319462"/>
            <a:ext cx="23907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91262" y="3319462"/>
            <a:ext cx="20955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8212" y="3319462"/>
            <a:ext cx="23431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1150" y="4033837"/>
            <a:ext cx="22002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2875" y="4033837"/>
            <a:ext cx="20955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19825" y="4033837"/>
            <a:ext cx="22002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91550" y="4033837"/>
            <a:ext cx="20193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81562" y="4748212"/>
            <a:ext cx="242887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Professional Skills Demonstrated</a:t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83032"/>
            <a:ext cx="5095875" cy="623664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762000" y="571500"/>
            <a:ext cx="49506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762000" y="1200150"/>
            <a:ext cx="4714875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762000" y="1394280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This project successfully transforms raw, unstructured student academic data into highly meaningful, actionable business intelligence insights.</a:t>
            </a:r>
            <a:endParaRPr dirty="0"/>
          </a:p>
        </p:txBody>
      </p:sp>
      <p:sp>
        <p:nvSpPr>
          <p:cNvPr id="369" name="Google Shape;369;p22"/>
          <p:cNvSpPr txBox="1"/>
          <p:nvPr/>
        </p:nvSpPr>
        <p:spPr>
          <a:xfrm>
            <a:off x="762000" y="2477955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762000" y="4515373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  <p:pic>
        <p:nvPicPr>
          <p:cNvPr id="371" name="Google Shape;37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7094" y="1689019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 txBox="1"/>
          <p:nvPr/>
        </p:nvSpPr>
        <p:spPr>
          <a:xfrm>
            <a:off x="6832839" y="2470365"/>
            <a:ext cx="4090511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sp>
        <p:nvSpPr>
          <p:cNvPr id="373" name="Google Shape;373;p22"/>
          <p:cNvSpPr/>
          <p:nvPr/>
        </p:nvSpPr>
        <p:spPr>
          <a:xfrm>
            <a:off x="7889875" y="3361191"/>
            <a:ext cx="1976437" cy="45719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7377908" y="3462671"/>
            <a:ext cx="30003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FF6FF"/>
                </a:solidFill>
                <a:latin typeface="Arial"/>
                <a:ea typeface="Arial"/>
                <a:cs typeface="Arial"/>
                <a:sym typeface="Arial"/>
              </a:rPr>
              <a:t>Saket Aman</a:t>
            </a: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EFF6FF"/>
                </a:solidFill>
              </a:rPr>
              <a:t>&amp;</a:t>
            </a:r>
            <a:endParaRPr lang="en-US" sz="2100" b="1" i="0" u="none" strike="noStrike" cap="none" dirty="0">
              <a:solidFill>
                <a:srgbClr val="EFF6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FF6FF"/>
                </a:solidFill>
                <a:latin typeface="Arial"/>
                <a:ea typeface="Arial"/>
                <a:cs typeface="Arial"/>
                <a:sym typeface="Arial"/>
              </a:rPr>
              <a:t>Ramtanay Chakraborty</a:t>
            </a:r>
            <a:endParaRPr dirty="0"/>
          </a:p>
        </p:txBody>
      </p:sp>
      <p:sp>
        <p:nvSpPr>
          <p:cNvPr id="375" name="Google Shape;375;p22"/>
          <p:cNvSpPr txBox="1"/>
          <p:nvPr/>
        </p:nvSpPr>
        <p:spPr>
          <a:xfrm>
            <a:off x="7596980" y="5173245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ASPIRING DATA ANALYST</a:t>
            </a:r>
            <a:endParaRPr dirty="0"/>
          </a:p>
        </p:txBody>
      </p:sp>
      <p:pic>
        <p:nvPicPr>
          <p:cNvPr id="376" name="Google Shape;37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49700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 txBox="1"/>
          <p:nvPr/>
        </p:nvSpPr>
        <p:spPr>
          <a:xfrm>
            <a:off x="1028700" y="2897055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Highly Interactive &amp; Easy to Use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1028700" y="3285645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Fast, Automated Reporting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1028700" y="3674236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Dynamic Filtering Capabilities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028700" y="4062826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Professional, Clean Visualization</a:t>
            </a:r>
            <a:endParaRPr/>
          </a:p>
        </p:txBody>
      </p:sp>
      <p:pic>
        <p:nvPicPr>
          <p:cNvPr id="381" name="Google Shape;38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3442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 txBox="1"/>
          <p:nvPr/>
        </p:nvSpPr>
        <p:spPr>
          <a:xfrm>
            <a:off x="1028700" y="4934473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Integration with Power Query &amp; Power Pivot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1028700" y="5323063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Migration to Power BI Dashboards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1028700" y="5711654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Automated PDF Report Card Generation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1028700" y="6100244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Implementing Predictive Analytics Models</a:t>
            </a:r>
            <a:endParaRPr/>
          </a:p>
        </p:txBody>
      </p:sp>
      <p:pic>
        <p:nvPicPr>
          <p:cNvPr id="386" name="Google Shape;38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97325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36184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750436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139026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09775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39926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787854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6176444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621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Ramtanay Chakraborty</cp:lastModifiedBy>
  <cp:revision>3</cp:revision>
  <dcterms:modified xsi:type="dcterms:W3CDTF">2026-07-13T19:23:57Z</dcterms:modified>
</cp:coreProperties>
</file>